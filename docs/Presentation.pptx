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71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9" r:id="rId12"/>
    <p:sldId id="270" r:id="rId13"/>
    <p:sldId id="265" r:id="rId14"/>
    <p:sldId id="266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3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6609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34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822960"/>
            <a:ext cx="8321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Image Steganography Suite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19202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Steganography  ·  RSA Encryption  ·  AES-256-GCM  ·  WebCrypto API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423160"/>
            <a:ext cx="8046720" cy="228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5603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AI &amp; Data Science  |  CPSS Micro-Credential Project  |  2024–25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3383280"/>
            <a:ext cx="1572768" cy="658368"/>
          </a:xfrm>
          <a:prstGeom prst="rect">
            <a:avLst/>
          </a:prstGeom>
          <a:solidFill>
            <a:srgbClr val="1A3A6B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383280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Dhiren Vasudeva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CB.AI.U4CPS25014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93976" y="3383280"/>
            <a:ext cx="1572768" cy="658368"/>
          </a:xfrm>
          <a:prstGeom prst="rect">
            <a:avLst/>
          </a:prstGeom>
          <a:solidFill>
            <a:srgbClr val="1A3A6B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383280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Pardhav Reddy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CB.AI.U4CPS25059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76472" y="3383280"/>
            <a:ext cx="1572768" cy="658368"/>
          </a:xfrm>
          <a:prstGeom prst="rect">
            <a:avLst/>
          </a:prstGeom>
          <a:solidFill>
            <a:srgbClr val="1A3A6B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76472" y="3383280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Poovya 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CB.AI.U4CPS25061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58968" y="3383280"/>
            <a:ext cx="1572768" cy="658368"/>
          </a:xfrm>
          <a:prstGeom prst="rect">
            <a:avLst/>
          </a:prstGeom>
          <a:solidFill>
            <a:srgbClr val="1A3A6B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58968" y="3383280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Venkata Abhiram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CB.AI.U4CPS25012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41464" y="3383280"/>
            <a:ext cx="1572768" cy="658368"/>
          </a:xfrm>
          <a:prstGeom prst="rect">
            <a:avLst/>
          </a:prstGeom>
          <a:solidFill>
            <a:srgbClr val="1A3A6B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41464" y="3383280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Santosh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CB.AI.U4CPS25045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199" y="1508760"/>
            <a:ext cx="8147849" cy="31546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960120"/>
            <a:ext cx="1371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86600" y="960120"/>
            <a:ext cx="1645920" cy="8961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Modes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1947672"/>
            <a:ext cx="1371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1947672"/>
            <a:ext cx="1645920" cy="8961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Payload (1080p)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2935224"/>
            <a:ext cx="1371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86600" y="2935224"/>
            <a:ext cx="1645920" cy="8961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3922776"/>
            <a:ext cx="1371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86600" y="3922776"/>
            <a:ext cx="1645920" cy="8961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00" dirty="0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C44499BD-0A99-E93B-9D60-34FDB9402A5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8356" y="1140589"/>
            <a:ext cx="775120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Steganography is the process of hiding secret information inside digital media such as images, audio, or videos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conceals the existence of the message from unauthorized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LSB steganography hides data by modifying the least significant bits of image pixels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hidden information remains visually undetectable to the human eye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in secure communication, cybersecurity, and digital watermarking applications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120640" cy="384048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StegoSuite v3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4754880" cy="31546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browser-based cryptographic toolkit integrating Least Significant Bit (LSB) image steganography with modern encryption techniques — RSA and AES-256-GCM.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embeds encrypted payloads invisibly within digital images by manipulating the least significant bit of each RGB pixel channel, producing visually imperceptible changes. A custom magic header (STG1) is prepended to every payload for reliable extraction.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cryptographic backends: an educational BigInt-based RSA module with Miller-Rabin primality testing, and a production WebCrypto API module using hardware-accelerated RSA-OAEP (2048-bit) with AES-256-GCM hybrid encryption. A Java implementation mirrors the core logic for cross-platform use.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operations execute entirely client-side — zero server, zero tracking, ephemeral key management.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0" y="960120"/>
            <a:ext cx="3200400" cy="89611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960120"/>
            <a:ext cx="1371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86600" y="960120"/>
            <a:ext cx="1645920" cy="8961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Modes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1947672"/>
            <a:ext cx="3200400" cy="89611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947672"/>
            <a:ext cx="1371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~777KB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1947672"/>
            <a:ext cx="1645920" cy="8961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Payload (1080p)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2935224"/>
            <a:ext cx="3200400" cy="89611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2935224"/>
            <a:ext cx="1371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86600" y="2935224"/>
            <a:ext cx="1645920" cy="8961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3922776"/>
            <a:ext cx="3200400" cy="89611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3922776"/>
            <a:ext cx="1371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JS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86600" y="3922776"/>
            <a:ext cx="1645920" cy="8961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52593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2743200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05840"/>
            <a:ext cx="27432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143000"/>
            <a:ext cx="47548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143000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3192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Steganography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190195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text in image RGB LSBs with STG1 magic header &amp; UTF-8 support. Zero visible change to carrier image.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63824" y="1005840"/>
            <a:ext cx="2743200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63824" y="1005840"/>
            <a:ext cx="27432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00984" y="1143000"/>
            <a:ext cx="47548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00984" y="1143000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00984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Encryption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00984" y="190195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BigInt RSA with Miller-Rabin primality testing. Supports 512 / 1024 / 2048-bit key pairs.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71616" y="1005840"/>
            <a:ext cx="2743200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71616" y="1005840"/>
            <a:ext cx="27432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8776" y="1143000"/>
            <a:ext cx="47548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08776" y="1143000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08776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WebCrypto AES-GCM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08776" y="190195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Hardware-accelerated RSA-OAEP + AES-256-GCM hybrid encryption for arbitrarily large messages.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2862072"/>
            <a:ext cx="2743200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862072"/>
            <a:ext cx="27432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92" y="2999232"/>
            <a:ext cx="47548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" y="2999232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93192" y="34107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Watermarking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3192" y="3758184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and invisible watermark embedding for ownership verification and tamper detection.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63824" y="2862072"/>
            <a:ext cx="2743200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63824" y="2862072"/>
            <a:ext cx="27432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00984" y="2999232"/>
            <a:ext cx="47548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00984" y="2999232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JVM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00984" y="34107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Backend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00984" y="3758184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Java 17 implementation using javax.crypto and java.security — no external libraries required.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71616" y="2862072"/>
            <a:ext cx="2743200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71616" y="2862072"/>
            <a:ext cx="27432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08776" y="2999232"/>
            <a:ext cx="47548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08776" y="2999232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ZTD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08776" y="34107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Design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08776" y="3758184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client-side. No server. No tracking. Ephemeral keys vanish when the tab is closed.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3566160" cy="38587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241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" y="1417320"/>
            <a:ext cx="33832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r>
              <a:rPr lang="en-US" sz="850" dirty="0">
                <a:solidFill>
                  <a:srgbClr val="A0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← Home overview
</a:t>
            </a:r>
            <a:r>
              <a:rPr lang="en-US" sz="8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steganography.html</a:t>
            </a:r>
            <a:r>
              <a:rPr lang="en-US" sz="850" dirty="0">
                <a:solidFill>
                  <a:srgbClr val="A0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LSB embed/extract
</a:t>
            </a:r>
            <a:r>
              <a:rPr lang="en-US" sz="8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watermark.html</a:t>
            </a:r>
            <a:r>
              <a:rPr lang="en-US" sz="850" dirty="0">
                <a:solidFill>
                  <a:srgbClr val="A0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← Watermarking tool
</a:t>
            </a:r>
            <a:r>
              <a:rPr lang="en-US" sz="8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rsa.html</a:t>
            </a:r>
            <a:r>
              <a:rPr lang="en-US" sz="850" dirty="0">
                <a:solidFill>
                  <a:srgbClr val="A0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← Educational RSA
</a:t>
            </a:r>
            <a:r>
              <a:rPr lang="en-US" sz="8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webcrypto.html</a:t>
            </a:r>
            <a:r>
              <a:rPr lang="en-US" sz="850" dirty="0">
                <a:solidFill>
                  <a:srgbClr val="A0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← AES-GCM crypto
</a:t>
            </a:r>
            <a:r>
              <a:rPr lang="en-US" sz="8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main.java</a:t>
            </a:r>
            <a:r>
              <a:rPr lang="en-US" sz="850" dirty="0">
                <a:solidFill>
                  <a:srgbClr val="A0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← Java standalone
assets/
</a:t>
            </a:r>
            <a:r>
              <a:rPr lang="en-US" sz="8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stego.js</a:t>
            </a:r>
            <a:r>
              <a:rPr lang="en-US" sz="850" dirty="0">
                <a:solidFill>
                  <a:srgbClr val="A0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← LSB engine
</a:t>
            </a:r>
            <a:r>
              <a:rPr lang="en-US" sz="8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rsa.js</a:t>
            </a:r>
            <a:r>
              <a:rPr lang="en-US" sz="850" dirty="0">
                <a:solidFill>
                  <a:srgbClr val="A0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← BigInt RSA lib
</a:t>
            </a:r>
            <a:r>
              <a:rPr lang="en-US" sz="8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webcrypto.js</a:t>
            </a:r>
            <a:r>
              <a:rPr lang="en-US" sz="850" dirty="0">
                <a:solidFill>
                  <a:srgbClr val="A0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WebCrypto wrapper
</a:t>
            </a:r>
            <a:r>
              <a:rPr lang="en-US" sz="8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ui.js</a:t>
            </a:r>
            <a:r>
              <a:rPr lang="en-US" sz="850" dirty="0">
                <a:solidFill>
                  <a:srgbClr val="A0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← Drag-drop, toast
</a:t>
            </a:r>
            <a:r>
              <a:rPr lang="en-US" sz="8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style.css</a:t>
            </a:r>
            <a:r>
              <a:rPr lang="en-US" sz="850" dirty="0">
                <a:solidFill>
                  <a:srgbClr val="A0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← Theme &amp; layout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069080" y="960120"/>
            <a:ext cx="4818888" cy="385876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06240" y="10241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Steganography 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1417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06240" y="172821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7282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462272" y="16916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carrier image (PNG)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06240" y="202082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20208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462272" y="198424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API reads pixel RGBA data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06240" y="231343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23134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462272" y="227685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encoded to UTF-8 bytes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06240" y="260604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26060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62272" y="256946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STG1 magic + length + payload assembled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06240" y="289864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28986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462272" y="286207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of each R,G,B channel overwritten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06240" y="319125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31912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462272" y="315468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canvas exported as new PNG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06240" y="3474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06240" y="3767328"/>
            <a:ext cx="201168" cy="201168"/>
          </a:xfrm>
          <a:prstGeom prst="ellipse">
            <a:avLst/>
          </a:prstGeom>
          <a:solidFill>
            <a:srgbClr val="E58B00"/>
          </a:solidFill>
          <a:ln w="12700">
            <a:solidFill>
              <a:srgbClr val="E58B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0" y="37673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462272" y="373075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bits collected from R,G,B channels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06240" y="4041648"/>
            <a:ext cx="201168" cy="201168"/>
          </a:xfrm>
          <a:prstGeom prst="ellipse">
            <a:avLst/>
          </a:prstGeom>
          <a:solidFill>
            <a:srgbClr val="E58B00"/>
          </a:solidFill>
          <a:ln w="12700">
            <a:solidFill>
              <a:srgbClr val="E58B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0" y="40416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462272" y="400507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32 bits checked for STG1 magic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206240" y="4315968"/>
            <a:ext cx="201168" cy="201168"/>
          </a:xfrm>
          <a:prstGeom prst="ellipse">
            <a:avLst/>
          </a:prstGeom>
          <a:solidFill>
            <a:srgbClr val="E58B00"/>
          </a:solidFill>
          <a:ln w="12700">
            <a:solidFill>
              <a:srgbClr val="E58B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0" y="43159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462272" y="427939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header decoded (next 32 bits)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06240" y="4590288"/>
            <a:ext cx="201168" cy="201168"/>
          </a:xfrm>
          <a:prstGeom prst="ellipse">
            <a:avLst/>
          </a:prstGeom>
          <a:solidFill>
            <a:srgbClr val="E58B00"/>
          </a:solidFill>
          <a:ln w="12700">
            <a:solidFill>
              <a:srgbClr val="E58B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0" y="45902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462272" y="455371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bytes reconstructed → UTF-8 decode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Steganography — Deep Dive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8631936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875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Format: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" y="1216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STG1 Magic (32 bits) ]  +  [ Length Header (32 bits) ]  +  [ UTF-8 Payload (N bytes) 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600200"/>
            <a:ext cx="8631936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627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Operation: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856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pixel_channel = (pixel_channel &amp; 0xFE) | bit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2240280"/>
            <a:ext cx="8631936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267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Formula: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24963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capacity = floor((width × height × 3 − 64) / 8)  bytes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" y="2971800"/>
            <a:ext cx="8631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Capacity Reference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3310128"/>
          <a:ext cx="8631936" cy="15087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Payload (bytes)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Payload (chars)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× 256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65,536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24,568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~24,500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× 512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262,144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98,296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~98,200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 × 768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786,432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294,904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~294,800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1920 × 1080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2,073,600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777,592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~777,500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256032" y="4846320"/>
            <a:ext cx="8631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channel is skipped — only R, G, B bits are used, preserving full transparency data.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Modules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4251960" cy="385876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425196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9601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— Educational (rsa.js)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1417320"/>
            <a:ext cx="3977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JavaScript BigInt implementation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Miller-Rabin primality testing (10 rounds)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512 / 1024 / 2048-bit keys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PKCS#1 v1.5 padding scheme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 key export (Base64 DER format)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tabs: Key Gen · Encrypt · Decrypt · Hybrid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gen: 512-bit ~1s, 2048-bit ~30s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— no native crypto API used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36592" y="960120"/>
            <a:ext cx="4251960" cy="385876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6592" y="960120"/>
            <a:ext cx="4251960" cy="3840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9601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WebCrypto — Production (webcrypto.js)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73752" y="1417320"/>
            <a:ext cx="3977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window.crypto.subtle (hardware-accelerated)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RSA-OAEP 2048-bit with SHA-256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with 96-bit random IV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RSA wraps AES key, AES encrypts data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Signatures: RSA-PSS (SHA-256)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encryption: any format → binary payload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import/export in PEM + JWK formats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Production-grade: constant-time, no side channels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Implementation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3474720" cy="385876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347472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9601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417320"/>
            <a:ext cx="3200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key generation (KeyPairGenerator)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Encrypt / Decrypt (RSA/ECB/PKCS1Padding)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Hybrid Encryption (AES/ECB/PKCS5Padding)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Image Steganography (BufferedImage ops)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Watermarking (Graphics2D overlay)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key/data serialization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libraries — Java 17 stdlib only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Compile: javac main.java  →  Run: java Main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77640" y="960120"/>
            <a:ext cx="4910328" cy="38587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0241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LSB Embed (Java)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0" y="132588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BufferedImage img</a:t>
            </a: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ImageIO.read(</a:t>
            </a: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</a:t>
            </a: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pixel</a:t>
            </a: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img.getRGB(x, y);</a:t>
            </a: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</a:t>
            </a: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(pixel &gt;&gt; 16) &amp; 0xFF;</a:t>
            </a: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g</a:t>
            </a: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(pixel &gt;&gt;  8) &amp; 0xFF;</a:t>
            </a: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b</a:t>
            </a: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 pixel        &amp; 0xFF;
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(r &amp; 0xFE) | </a:t>
            </a: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bit0</a:t>
            </a: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;g = (g &amp; 0xFE) | </a:t>
            </a: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bit1</a:t>
            </a: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;b = (b &amp; 0xFE) | </a:t>
            </a: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bit2</a:t>
            </a: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newPixel</a:t>
            </a: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(r&lt;&lt;16)|(g&lt;&lt;8)|b;img.setRGB(x, y, newPixel);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Identical logic mirrors the JavaScript stego.js engine — cross-platform compatible outputs.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of LSB Steganography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4160520" cy="19933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41605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9601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Bit-Plane Embedding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13807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LSB, then write secret bit b ∈ {0,1}: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3192" y="1655064"/>
            <a:ext cx="388620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65506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p' = (p  &amp;  0xFE)  |  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" y="2112264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0xFE = 11111110₂  →  masks the least significant bit to 0, preserving all 7 upper bits. The secret bit b then occupies position 0.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3035808"/>
            <a:ext cx="4160520" cy="18470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3035808"/>
            <a:ext cx="41605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303580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Formula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" y="34564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embeddable payload in bytes: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3192" y="3730752"/>
            <a:ext cx="388620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373075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floor( (W × H × 3  −  64) / 8 )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" y="418795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W×H×3 = total RGB channel bits available. 64 bits reserved for STG1 magic (32 b) + length header (32 b). Divide by 8 to convert bits → bytes.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36008" y="960120"/>
            <a:ext cx="4251960" cy="18470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36008" y="960120"/>
            <a:ext cx="425196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9601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PSNR (Quality Guarantee)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13807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Signal-to-Noise Ratio after embedding: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73168" y="1655064"/>
            <a:ext cx="397764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165506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PSNR = 10 · log₁₀( 255² / MSE 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73168" y="211226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LSB-only change → MSE = 0.75 (on average, ½ of pixels flip 1 LSB). Gives PSNR ≈ 51.1 dB — imperceptible to human vision (threshold ≈ 40 dB).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36008" y="2889504"/>
            <a:ext cx="4251960" cy="19933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36008" y="2889504"/>
            <a:ext cx="425196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288950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Bit Extraction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73168" y="33101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secret byte from 8 consecutive pixels: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73168" y="3584448"/>
            <a:ext cx="397764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358444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 = Σ (pᵢ &amp; 1) · 2^(7−i),   i = 0..7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73168" y="404164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channel contributes 1 bit via AND 1. Eight channels → 1 byte. STG1 magic (0x53544731) is verified first before length and payload bytes are decoded.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of RSA Encryption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8631936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8631936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960120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Generation — Step by Step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71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135331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 primes  p, q  (Miller-Rabin tested)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57400" y="1481328"/>
            <a:ext cx="109728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137160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371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95728" y="135331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p · q   (modulus, 2048-bit)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94760" y="1481328"/>
            <a:ext cx="109728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137160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1371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33088" y="135331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φ(n) = (p − 1)(q − 1)   (Euler's totient)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532120" y="1481328"/>
            <a:ext cx="109728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7840" y="137160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1371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70448" y="135331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65537   (public exponent, gcd(e, φ(n)) = 1)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269480" y="1481328"/>
            <a:ext cx="109728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137160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1371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07808" y="135331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≡ e⁻¹ (mod φ(n))   (extended Euclidean algorithm)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6032" y="2487168"/>
            <a:ext cx="4160520" cy="239572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2487168"/>
            <a:ext cx="41605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248716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&amp; Decrypt Operations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93192" y="290779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 (public key e, n):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93192" y="3182112"/>
            <a:ext cx="38862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" y="318211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Mᵉ  mod  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93192" y="360273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  (private key d, n):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93192" y="3877056"/>
            <a:ext cx="38862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" y="387705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Cᵈ  mod  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93192" y="429768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Modular Exponentiation (square-and-multiply) keeps runtime O(log e) multiplications — essential for 2048-bit keys.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36008" y="2487168"/>
            <a:ext cx="4251960" cy="239572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36008" y="2487168"/>
            <a:ext cx="425196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24871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Foundation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73168" y="290779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Factorisation Problem: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73168" y="3182112"/>
            <a:ext cx="39776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318211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Given n = p·q,  find p and q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73168" y="360273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known algorithm (GNFS) runs in sub-exponential time exp(O(n^(1/3))). At 2048-bit: ~2¹¹² operations — computationally infeasible.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73168" y="404164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PKCS#1 v1.5 Padding: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73168" y="4315968"/>
            <a:ext cx="39776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73168" y="431596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 | 0x02 | PS | 0x00 | M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773168" y="47365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= random non-zero padding bytes. Prevents chosen-plaintext attacks against raw RSA.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of AES-256-GCM &amp; Hybrid Encryption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4160520" cy="187452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41605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9601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SubBytes — GF(2⁸) Inversion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13807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byte b mapped via multiplicative inverse in GF(2⁸):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3192" y="1655064"/>
            <a:ext cx="388620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65506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S(b) = b⁻¹  in  GF(2⁸)  mod  (x⁸+x⁴+x³+x+1)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" y="2112264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Irreducible polynomial 0x11B defines the field. b·b⁻¹ ≡ 1 (mod 0x11B). Then an affine transform over GF(2) produces the final S-box value.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2907792"/>
            <a:ext cx="4160520" cy="19202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2907792"/>
            <a:ext cx="41605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29077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MixColumns — GF(2⁸) Matrix Multiply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" y="332841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4-byte column c multiplied by fixed matrix M: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3192" y="3602736"/>
            <a:ext cx="388620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360273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 3 1 1 | 1 2 3 1 | 1 1 2 3 | 3 1 1 2] · c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93192" y="405993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by 2 = left-shift + conditional XOR 0x1B (if MSB was set). Provides diffusion — every output byte depends on all 4 input bytes.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36008" y="960120"/>
            <a:ext cx="4251960" cy="187452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36008" y="960120"/>
            <a:ext cx="425196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9601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GCM Authentication Tag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13807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GHASH over ciphertext C and AAD A: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73168" y="1655064"/>
            <a:ext cx="397764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165506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GHASH(H, A, C)  ⊕  E(K, IV||0¹)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73168" y="211226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AES_K(0¹²⁸). GHASH multiplies blocks over GF(2¹²⁸) mod x¹²⁸+x⁷+x²+x+1. Tag T is 128-bit — any ciphertext tamper invalidates it.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36008" y="2907792"/>
            <a:ext cx="4251960" cy="19202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36008" y="2907792"/>
            <a:ext cx="425196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290779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RSA + AES-GCM Flow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73168" y="332841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encapsulation mechanism (KEM):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73168" y="3602736"/>
            <a:ext cx="397764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3602736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K_aes ← random 256-bit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C_key = K_pub^e mod n (RSA-OAEP)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C_data = AES-GCM(K_aes, IV, M)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73168" y="431596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Decryption: K_aes = C_key^d mod n, then M = AES-GCM-Decrypt(K_aes, IV, C_data). RSA secures 32 bytes; AES handles arbitrary-length messages efficiently.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of Miller-Rabin Primality Testing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8631936" cy="19202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8631936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960120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— Write n−1 = 2ˢ · d  (d odd), pick random witness 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1389888"/>
            <a:ext cx="20116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898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13898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  x = aᵈ mod 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1655064"/>
            <a:ext cx="20116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6550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165506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x = 1  or  x = n−1  →  "probably prime"  (pass this round)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920240"/>
            <a:ext cx="20116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9202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" y="192024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 s−1 times:  x = x² mod 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2185416"/>
            <a:ext cx="20116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1854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" y="218541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x = n−1  →  "probably prime".   If x = 1  →  "composite"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2450592"/>
            <a:ext cx="20116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4505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" y="245059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all squarings without n−1  →  "composite"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2971800"/>
            <a:ext cx="2743200" cy="190195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971800"/>
            <a:ext cx="27432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29718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Probability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3192" y="33924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of false prime after k rounds: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93192" y="3666744"/>
            <a:ext cx="246888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366674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P(error) ≤ 4⁻ᵏ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3192" y="412394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k=10 rounds: P ≤ 4⁻¹⁰ ≈ 10⁻⁶. Project uses k=10 rounds — fewer than 1 in a million false positives.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45536" y="2971800"/>
            <a:ext cx="2871216" cy="190195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45536" y="2971800"/>
            <a:ext cx="2871216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82696" y="2971800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Fermat's Little Theorem (Basis)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82696" y="33924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prime p and gcd(a,p)=1: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82696" y="3666744"/>
            <a:ext cx="2596896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82696" y="3666744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aᵖ⁻¹ ≡ 1  (mod p)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82696" y="4123944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Miller-Rabin strengthens this: it checks all square-roots of 1 in the chain aᵈ, a²ᵈ, …, a^(2^s · d), catching strong pseudoprimes that fool basic Fermat.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63056" y="2971800"/>
            <a:ext cx="2724912" cy="190195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63056" y="2971800"/>
            <a:ext cx="2724912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0216" y="297180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Complexity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00216" y="339242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round (modular exponentiation):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00216" y="3666744"/>
            <a:ext cx="2450592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0216" y="3666744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O(log²n · log k)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00216" y="4123944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2048-bit n with k=10 rounds: ~30 seconds in pure BigInt JS. Native crypto (window.crypto) eliminates this bottleneck for production keys.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4251960" cy="385876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4251960" cy="38404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9601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Achievements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417320"/>
            <a:ext cx="3977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steganography pipeline (JS + Java)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cryptographic backends (educational + production)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+ RSA-OAEP hybrid encryption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watermarking module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Zero-dependency client-side architecture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dark UI with drag-drop UX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Cross-platform: browser + Java 17 standalone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36592" y="960120"/>
            <a:ext cx="4251960" cy="385876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6592" y="960120"/>
            <a:ext cx="425196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9601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Enhancements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752" y="1417320"/>
            <a:ext cx="3977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DCT-based frequency-domain steganography for higher robustness against compression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Multi-image payload spreading to increase capacity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Blockchain-based provenance tracking for watermarked media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native app (React Native / Flutter)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ECDSA digital signatures with Web Crypto API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detection / steganalysis module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key management with HSM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8631936" cy="39044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24128"/>
            <a:ext cx="83210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Chandramouli, R. &amp; Memon, N. (2001). Analysis of LSB based image steganography techniques. IEEE ICIP.
[2] Rivest, R., Shamir, A., &amp; Adleman, L. (1978). A method for obtaining digital signatures and public-key cryptosystems. CACM, 21(2).
[3] Bellare, M. &amp; Rogaway, P. (1994). Optimal Asymmetric Encryption — How to Encrypt with RSA. EUROCRYPT.
[4] McGrew, D. &amp; Viega, J. (2004). The Galois/Counter Mode of Operation (GCM). NIST Submission.
[5] Mozilla MDN. (2024). Web Crypto API. developer.mozilla.org/en-US/docs/Web/API/Web_Crypto_API
[6] Johnson, N.F. &amp; Jajodia, S. (1998). Exploring steganography: Seeing the unseen. IEEE Computer, 31(2).
[7] Miller, G. (1976). Riemann's Hypothesis and Tests for Primality. JCSS 13(3), 300–317.
[8] Rabin, M. (1980). Probabilistic Algorithm for Testing Primality. Journal of Number Theory, 12(1).
[9] W3C. (2024). Web Cryptography API Specification. w3.org/TR/WebCryptoAPI/
[10] Oracle. (2024). Java Cryptography Architecture (JCA) Reference Guide. Java SE 17 Documentation.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2444</Words>
  <Application>Microsoft Office PowerPoint</Application>
  <PresentationFormat>On-screen Show (16:9)</PresentationFormat>
  <Paragraphs>272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Image Steganography Suite</dc:title>
  <dc:subject>PptxGenJS Presentation</dc:subject>
  <dc:creator>PptxGenJS</dc:creator>
  <cp:lastModifiedBy>Pardhav Reddy</cp:lastModifiedBy>
  <cp:revision>3</cp:revision>
  <dcterms:created xsi:type="dcterms:W3CDTF">2026-05-16T17:40:27Z</dcterms:created>
  <dcterms:modified xsi:type="dcterms:W3CDTF">2026-05-31T13:06:56Z</dcterms:modified>
</cp:coreProperties>
</file>